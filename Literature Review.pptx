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yutro Sans Heavy" charset="1" panose="00000000000000000000"/>
      <p:regular r:id="rId19"/>
    </p:embeddedFont>
    <p:embeddedFont>
      <p:font typeface="Nyutro Sans" charset="1" panose="00000000000000000000"/>
      <p:regular r:id="rId20"/>
    </p:embeddedFont>
    <p:embeddedFont>
      <p:font typeface="Nyutro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D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1"/>
            </a:xfrm>
            <a:custGeom>
              <a:avLst/>
              <a:gdLst/>
              <a:ahLst/>
              <a:cxnLst/>
              <a:rect r="r" b="b" t="t" l="l"/>
              <a:pathLst>
                <a:path h="2782841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7214776"/>
            <a:chOff x="0" y="0"/>
            <a:chExt cx="13017500" cy="961970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594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</a:pPr>
              <a:r>
                <a:rPr lang="en-US" b="true" sz="11000" spc="-110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Lit</a:t>
              </a:r>
              <a:r>
                <a:rPr lang="en-US" b="true" sz="11000" spc="-110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erature Review: Endless Runner Genre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041476"/>
              <a:ext cx="9182100" cy="3578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Tashfiq Mahmud Niloy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Tirana Mahbub Meem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Ihtishamul Haq Shimanto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Tamanna Akter Mou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8E2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1990725"/>
            <a:chOff x="0" y="0"/>
            <a:chExt cx="13017500" cy="2654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Objec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t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iv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es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&amp;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Scop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20002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139346"/>
            <a:ext cx="10589403" cy="3985224"/>
            <a:chOff x="0" y="0"/>
            <a:chExt cx="14119204" cy="53136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28650"/>
              <a:ext cx="14119204" cy="4284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34" indent="-388617" lvl="1">
                <a:lnSpc>
                  <a:spcPts val="50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•Summ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arize st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ud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ies and sources on endless runner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game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s.</a:t>
              </a:r>
            </a:p>
            <a:p>
              <a:pPr algn="l" marL="777234" indent="-388617" lvl="1">
                <a:lnSpc>
                  <a:spcPts val="50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Explain why the genre emerged and its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ey mechanics.</a:t>
              </a:r>
            </a:p>
            <a:p>
              <a:pPr algn="l" marL="0" indent="0" lvl="0">
                <a:lnSpc>
                  <a:spcPts val="503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14119204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91488" y="5911251"/>
            <a:ext cx="9167812" cy="3347049"/>
            <a:chOff x="0" y="0"/>
            <a:chExt cx="12223750" cy="446273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28650"/>
              <a:ext cx="12223750" cy="3434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34" indent="-388617" lvl="1">
                <a:lnSpc>
                  <a:spcPts val="50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Id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ify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ul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tles an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infl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ue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nce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 algn="l" marL="777234" indent="-388617" lvl="1">
                <a:lnSpc>
                  <a:spcPts val="50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Ev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ate c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urr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pu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lar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y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ke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rend</a:t>
              </a:r>
              <a:r>
                <a:rPr lang="en-US" sz="3599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s.</a:t>
              </a:r>
            </a:p>
            <a:p>
              <a:pPr algn="l" marL="0" indent="0" lvl="0">
                <a:lnSpc>
                  <a:spcPts val="5039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1222375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42037"/>
            <a:ext cx="629353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Play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m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ov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es 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ndl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ly until fa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lur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obsta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80770" y="5237488"/>
            <a:ext cx="672646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Simple c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nt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ols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(t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p/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w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pe) a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infinit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vel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desi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g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13151" y="7648575"/>
            <a:ext cx="604614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F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cu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core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,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st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e,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and 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quick s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ssi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2999" strike="noStrike" u="none">
                <a:solidFill>
                  <a:srgbClr val="6A994E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ns.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38300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What</a:t>
            </a: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is an Endless Runner?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D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4501" y="2031755"/>
            <a:ext cx="3696614" cy="3699336"/>
            <a:chOff x="0" y="0"/>
            <a:chExt cx="844084" cy="8447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44706"/>
            </a:xfrm>
            <a:custGeom>
              <a:avLst/>
              <a:gdLst/>
              <a:ahLst/>
              <a:cxnLst/>
              <a:rect r="r" b="b" t="t" l="l"/>
              <a:pathLst>
                <a:path h="844706" w="844084">
                  <a:moveTo>
                    <a:pt x="52358" y="0"/>
                  </a:moveTo>
                  <a:lnTo>
                    <a:pt x="791726" y="0"/>
                  </a:lnTo>
                  <a:cubicBezTo>
                    <a:pt x="805612" y="0"/>
                    <a:pt x="818930" y="5516"/>
                    <a:pt x="828749" y="15335"/>
                  </a:cubicBezTo>
                  <a:cubicBezTo>
                    <a:pt x="838568" y="25154"/>
                    <a:pt x="844084" y="38472"/>
                    <a:pt x="844084" y="52358"/>
                  </a:cubicBezTo>
                  <a:lnTo>
                    <a:pt x="844084" y="792348"/>
                  </a:lnTo>
                  <a:cubicBezTo>
                    <a:pt x="844084" y="806234"/>
                    <a:pt x="838568" y="819552"/>
                    <a:pt x="828749" y="829371"/>
                  </a:cubicBezTo>
                  <a:cubicBezTo>
                    <a:pt x="818930" y="839190"/>
                    <a:pt x="805612" y="844706"/>
                    <a:pt x="791726" y="844706"/>
                  </a:cubicBezTo>
                  <a:lnTo>
                    <a:pt x="52358" y="844706"/>
                  </a:lnTo>
                  <a:cubicBezTo>
                    <a:pt x="38472" y="844706"/>
                    <a:pt x="25154" y="839190"/>
                    <a:pt x="15335" y="829371"/>
                  </a:cubicBezTo>
                  <a:cubicBezTo>
                    <a:pt x="5516" y="819552"/>
                    <a:pt x="0" y="806234"/>
                    <a:pt x="0" y="792348"/>
                  </a:cubicBezTo>
                  <a:lnTo>
                    <a:pt x="0" y="52358"/>
                  </a:lnTo>
                  <a:cubicBezTo>
                    <a:pt x="0" y="38472"/>
                    <a:pt x="5516" y="25154"/>
                    <a:pt x="15335" y="15335"/>
                  </a:cubicBezTo>
                  <a:cubicBezTo>
                    <a:pt x="25154" y="5516"/>
                    <a:pt x="38472" y="0"/>
                    <a:pt x="52358" y="0"/>
                  </a:cubicBezTo>
                  <a:close/>
                </a:path>
              </a:pathLst>
            </a:custGeom>
            <a:blipFill>
              <a:blip r:embed="rId2"/>
              <a:stretch>
                <a:fillRect l="-36" t="0" r="-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71714" y="5977567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2346" t="0" r="-234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9827" y="745802"/>
            <a:ext cx="15516225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Or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g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in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 &amp; Early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Examples</a:t>
            </a:r>
          </a:p>
          <a:p>
            <a:pPr algn="l">
              <a:lnSpc>
                <a:spcPts val="81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895408"/>
            <a:ext cx="5757532" cy="971684"/>
            <a:chOff x="0" y="0"/>
            <a:chExt cx="7676710" cy="129557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93692"/>
              <a:ext cx="7676710" cy="701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8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arly roots in Doodle Jump (2009).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767671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904344"/>
            <a:ext cx="6049467" cy="1486034"/>
            <a:chOff x="0" y="0"/>
            <a:chExt cx="8065956" cy="198137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93692"/>
              <a:ext cx="8065956" cy="1387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Ca</a:t>
              </a:r>
              <a:r>
                <a:rPr lang="en-US" sz="28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nabalt (2009) popularized one-tap endless gameplay.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806595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4908227"/>
            <a:ext cx="6066765" cy="106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Ge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re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g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re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w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wi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th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t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h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ri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 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of smar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p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h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8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2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86329" y="1670927"/>
            <a:ext cx="5448300" cy="3194207"/>
            <a:chOff x="0" y="0"/>
            <a:chExt cx="844084" cy="494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2171" t="0" r="-217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86329" y="5644993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8627" t="0" r="-862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42950"/>
            <a:ext cx="1551622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Why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It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W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ade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1790964"/>
            <a:ext cx="7453312" cy="3074169"/>
            <a:chOff x="0" y="0"/>
            <a:chExt cx="9937750" cy="40988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93692"/>
              <a:ext cx="9937750" cy="3505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Des</a:t>
              </a:r>
              <a:r>
                <a:rPr lang="en-US" sz="29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igned for mobile touch controls — simple to play.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Fit casual gaming trends and short attention spans</a:t>
              </a:r>
            </a:p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9377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750" y="6705600"/>
            <a:ext cx="71795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Allowed easy monetization via ads/in-app purchases.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Procedural levels reduced design workload.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62922" y="2454309"/>
            <a:ext cx="5448300" cy="3194207"/>
            <a:chOff x="0" y="0"/>
            <a:chExt cx="844084" cy="494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5750" t="0" r="-575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00712" y="2454309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2346" t="0" r="-23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4323" y="2227538"/>
            <a:ext cx="2541516" cy="3420977"/>
            <a:chOff x="0" y="0"/>
            <a:chExt cx="393747" cy="529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47" cy="529999"/>
            </a:xfrm>
            <a:custGeom>
              <a:avLst/>
              <a:gdLst/>
              <a:ahLst/>
              <a:cxnLst/>
              <a:rect r="r" b="b" t="t" l="l"/>
              <a:pathLst>
                <a:path h="529999" w="393747">
                  <a:moveTo>
                    <a:pt x="76155" y="0"/>
                  </a:moveTo>
                  <a:lnTo>
                    <a:pt x="317593" y="0"/>
                  </a:lnTo>
                  <a:cubicBezTo>
                    <a:pt x="359652" y="0"/>
                    <a:pt x="393747" y="34096"/>
                    <a:pt x="393747" y="76155"/>
                  </a:cubicBezTo>
                  <a:lnTo>
                    <a:pt x="393747" y="453844"/>
                  </a:lnTo>
                  <a:cubicBezTo>
                    <a:pt x="393747" y="474042"/>
                    <a:pt x="385724" y="493412"/>
                    <a:pt x="371442" y="507694"/>
                  </a:cubicBezTo>
                  <a:cubicBezTo>
                    <a:pt x="357160" y="521975"/>
                    <a:pt x="337790" y="529999"/>
                    <a:pt x="317593" y="529999"/>
                  </a:cubicBezTo>
                  <a:lnTo>
                    <a:pt x="76155" y="529999"/>
                  </a:lnTo>
                  <a:cubicBezTo>
                    <a:pt x="55957" y="529999"/>
                    <a:pt x="36587" y="521975"/>
                    <a:pt x="22305" y="507694"/>
                  </a:cubicBezTo>
                  <a:cubicBezTo>
                    <a:pt x="8023" y="493412"/>
                    <a:pt x="0" y="474042"/>
                    <a:pt x="0" y="453844"/>
                  </a:cubicBezTo>
                  <a:lnTo>
                    <a:pt x="0" y="76155"/>
                  </a:lnTo>
                  <a:cubicBezTo>
                    <a:pt x="0" y="55957"/>
                    <a:pt x="8023" y="36587"/>
                    <a:pt x="22305" y="22305"/>
                  </a:cubicBezTo>
                  <a:cubicBezTo>
                    <a:pt x="36587" y="8023"/>
                    <a:pt x="55957" y="0"/>
                    <a:pt x="76155" y="0"/>
                  </a:cubicBezTo>
                  <a:close/>
                </a:path>
              </a:pathLst>
            </a:custGeom>
            <a:blipFill>
              <a:blip r:embed="rId4"/>
              <a:stretch>
                <a:fillRect l="-411" t="0" r="-41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42950"/>
            <a:ext cx="1551622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Po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ula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 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Gam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6525485"/>
            <a:ext cx="15062128" cy="273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06" indent="-377703" lvl="1">
              <a:lnSpc>
                <a:spcPts val="4198"/>
              </a:lnSpc>
              <a:buFont typeface="Arial"/>
              <a:buChar char="•"/>
            </a:pPr>
            <a:r>
              <a:rPr lang="en-US" b="true" sz="3498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Canabalt (2009) – pioneer indie game.</a:t>
            </a:r>
          </a:p>
          <a:p>
            <a:pPr algn="l" marL="755406" indent="-377703" lvl="1">
              <a:lnSpc>
                <a:spcPts val="4198"/>
              </a:lnSpc>
              <a:buFont typeface="Arial"/>
              <a:buChar char="•"/>
            </a:pPr>
            <a:r>
              <a:rPr lang="en-US" b="true" sz="3498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Temple </a:t>
            </a:r>
            <a:r>
              <a:rPr lang="en-US" b="true" sz="3498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Run (2011) – huge cultural success.</a:t>
            </a:r>
          </a:p>
          <a:p>
            <a:pPr algn="l" marL="755406" indent="-377703" lvl="1">
              <a:lnSpc>
                <a:spcPts val="4198"/>
              </a:lnSpc>
              <a:buFont typeface="Arial"/>
              <a:buChar char="•"/>
            </a:pPr>
            <a:r>
              <a:rPr lang="en-US" b="true" sz="3498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Subway Surfers (2012) – over 3 billion downloads.</a:t>
            </a:r>
          </a:p>
          <a:p>
            <a:pPr algn="l" marL="755406" indent="-377703" lvl="1">
              <a:lnSpc>
                <a:spcPts val="4198"/>
              </a:lnSpc>
              <a:buFont typeface="Arial"/>
              <a:buChar char="•"/>
            </a:pPr>
            <a:r>
              <a:rPr lang="en-US" b="true" sz="3498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Jetpack Joyride, Flappy Bird, Alto’s Adventure, Crossy Road, Sonic Dash.</a:t>
            </a:r>
          </a:p>
          <a:p>
            <a:pPr algn="l" marL="0" indent="0" lvl="0">
              <a:lnSpc>
                <a:spcPts val="419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D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3205911" cy="1990725"/>
            <a:chOff x="0" y="0"/>
            <a:chExt cx="17607882" cy="2654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7607882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Evid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en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e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&amp;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a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rket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pact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51535" y="2000250"/>
              <a:ext cx="17556347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00136" y="2224932"/>
            <a:ext cx="5552725" cy="5526054"/>
            <a:chOff x="0" y="0"/>
            <a:chExt cx="860262" cy="856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0262" cy="856130"/>
            </a:xfrm>
            <a:custGeom>
              <a:avLst/>
              <a:gdLst/>
              <a:ahLst/>
              <a:cxnLst/>
              <a:rect r="r" b="b" t="t" l="l"/>
              <a:pathLst>
                <a:path h="856130" w="860262">
                  <a:moveTo>
                    <a:pt x="34856" y="0"/>
                  </a:moveTo>
                  <a:lnTo>
                    <a:pt x="825406" y="0"/>
                  </a:lnTo>
                  <a:cubicBezTo>
                    <a:pt x="834650" y="0"/>
                    <a:pt x="843516" y="3672"/>
                    <a:pt x="850053" y="10209"/>
                  </a:cubicBezTo>
                  <a:cubicBezTo>
                    <a:pt x="856590" y="16746"/>
                    <a:pt x="860262" y="25612"/>
                    <a:pt x="860262" y="34856"/>
                  </a:cubicBezTo>
                  <a:lnTo>
                    <a:pt x="860262" y="821274"/>
                  </a:lnTo>
                  <a:cubicBezTo>
                    <a:pt x="860262" y="830518"/>
                    <a:pt x="856590" y="839384"/>
                    <a:pt x="850053" y="845921"/>
                  </a:cubicBezTo>
                  <a:cubicBezTo>
                    <a:pt x="843516" y="852458"/>
                    <a:pt x="834650" y="856130"/>
                    <a:pt x="825406" y="856130"/>
                  </a:cubicBezTo>
                  <a:lnTo>
                    <a:pt x="34856" y="856130"/>
                  </a:lnTo>
                  <a:cubicBezTo>
                    <a:pt x="15606" y="856130"/>
                    <a:pt x="0" y="840525"/>
                    <a:pt x="0" y="821274"/>
                  </a:cubicBezTo>
                  <a:lnTo>
                    <a:pt x="0" y="34856"/>
                  </a:lnTo>
                  <a:cubicBezTo>
                    <a:pt x="0" y="15606"/>
                    <a:pt x="15606" y="0"/>
                    <a:pt x="3485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1" r="0" b="-24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72357" y="2413818"/>
            <a:ext cx="7677330" cy="4660969"/>
            <a:chOff x="0" y="0"/>
            <a:chExt cx="10236440" cy="621462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301067"/>
              <a:ext cx="10236440" cy="4913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6834" indent="-323417" lvl="1">
                <a:lnSpc>
                  <a:spcPts val="41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5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Run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Subw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ay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Surf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ers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reac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ed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ill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io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o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play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/downlo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 algn="l" marL="646834" indent="-323417" lvl="1">
                <a:lnSpc>
                  <a:spcPts val="41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Subway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Sur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fers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ll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ran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mong t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op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mo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il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s.</a:t>
              </a:r>
            </a:p>
            <a:p>
              <a:pPr algn="l" marL="646834" indent="-323417" lvl="1">
                <a:lnSpc>
                  <a:spcPts val="41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Market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re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or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w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ea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dy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rowth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or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mobi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run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ne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</a:t>
              </a:r>
              <a:r>
                <a:rPr lang="en-US" sz="2995" strike="noStrike" u="none">
                  <a:solidFill>
                    <a:srgbClr val="6A994E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es.</a:t>
              </a:r>
            </a:p>
            <a:p>
              <a:pPr algn="l" marL="0" indent="0" lvl="0">
                <a:lnSpc>
                  <a:spcPts val="4194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10236440" cy="801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4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7957" y="5143500"/>
            <a:ext cx="8996034" cy="4784561"/>
          </a:xfrm>
          <a:custGeom>
            <a:avLst/>
            <a:gdLst/>
            <a:ahLst/>
            <a:cxnLst/>
            <a:rect r="r" b="b" t="t" l="l"/>
            <a:pathLst>
              <a:path h="4784561" w="8996034">
                <a:moveTo>
                  <a:pt x="0" y="0"/>
                </a:moveTo>
                <a:lnTo>
                  <a:pt x="8996034" y="0"/>
                </a:lnTo>
                <a:lnTo>
                  <a:pt x="8996034" y="4784561"/>
                </a:lnTo>
                <a:lnTo>
                  <a:pt x="0" y="4784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7" t="0" r="-1590" b="-91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42950"/>
            <a:ext cx="1273922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Criti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ci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sms &amp;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Lim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it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ation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2538" y="6280131"/>
            <a:ext cx="12322884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94858"/>
            <a:ext cx="13698156" cy="35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b="true" sz="4446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Saturation of copycat titl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s.</a:t>
            </a:r>
          </a:p>
          <a:p>
            <a:pPr algn="l">
              <a:lnSpc>
                <a:spcPts val="7025"/>
              </a:lnSpc>
            </a:pP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Repetitive g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am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eplay and lack 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f innovation.</a:t>
            </a:r>
          </a:p>
          <a:p>
            <a:pPr algn="l">
              <a:lnSpc>
                <a:spcPts val="7025"/>
              </a:lnSpc>
            </a:pP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Ads and paywalls can f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</a:t>
            </a:r>
            <a:r>
              <a:rPr lang="en-US" b="true" sz="4446" strike="noStrike" u="none">
                <a:solidFill>
                  <a:srgbClr val="1E3923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ustrate players.</a:t>
            </a:r>
          </a:p>
          <a:p>
            <a:pPr algn="l">
              <a:lnSpc>
                <a:spcPts val="702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1990725"/>
            <a:chOff x="0" y="0"/>
            <a:chExt cx="13017500" cy="2654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Is It S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ti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l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l </a:t>
              </a:r>
              <a:r>
                <a:rPr lang="en-US" b="true" sz="9000" spc="-89" strike="noStrike" u="none">
                  <a:solidFill>
                    <a:srgbClr val="D6282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Popular?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20002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2107204"/>
            <a:ext cx="10619629" cy="3185758"/>
            <a:chOff x="0" y="0"/>
            <a:chExt cx="14159506" cy="424767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61975"/>
              <a:ext cx="14159506" cy="328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b="true" sz="2999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Y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—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till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str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ong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a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ong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ual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bile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gam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.</a:t>
              </a:r>
            </a:p>
            <a:p>
              <a:pPr algn="l">
                <a:lnSpc>
                  <a:spcPts val="5279"/>
                </a:lnSpc>
              </a:pP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ssic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les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nu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upda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tes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and down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oad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.</a:t>
              </a:r>
            </a:p>
            <a:p>
              <a:pPr algn="l">
                <a:lnSpc>
                  <a:spcPts val="5279"/>
                </a:lnSpc>
              </a:pP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no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 a st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able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,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th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ough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ren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dy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an 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2010s</a:t>
              </a:r>
              <a:r>
                <a:rPr lang="en-US" b="true" sz="2999" strike="noStrike" u="none">
                  <a:solidFill>
                    <a:srgbClr val="6A994E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.</a:t>
              </a:r>
            </a:p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14159506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23799" y="2241787"/>
            <a:ext cx="5448300" cy="3194207"/>
            <a:chOff x="0" y="0"/>
            <a:chExt cx="844084" cy="494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2346" t="0" r="-23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81575" y="5642130"/>
            <a:ext cx="5448300" cy="3194207"/>
            <a:chOff x="0" y="0"/>
            <a:chExt cx="844084" cy="494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5750" t="0" r="-575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D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57650"/>
            <a:ext cx="654092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Need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tudie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pl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y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ten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tion vs.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m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ization.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89076" y="5686048"/>
            <a:ext cx="693261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Exp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 p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ro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c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edur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l des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g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’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s ef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fe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c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on engagement.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0993" y="7541442"/>
            <a:ext cx="678830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Pote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nti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al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 hybr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d genr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es 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(run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ne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r +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 r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ogu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it</a:t>
            </a:r>
            <a:r>
              <a:rPr lang="en-US" sz="2999" strike="noStrike" u="none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e, AR/VR).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05025" y="1638300"/>
            <a:ext cx="1407795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Research</a:t>
            </a: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Gaps &amp; Future Trends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8E2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1057" y="2666283"/>
            <a:ext cx="14745885" cy="556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b="true" sz="6000" spc="-60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Born fro</a:t>
            </a:r>
            <a:r>
              <a:rPr lang="en-US" b="true" sz="6000" spc="-60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m mobile and casual gaming needs.</a:t>
            </a:r>
          </a:p>
          <a:p>
            <a:pPr algn="l">
              <a:lnSpc>
                <a:spcPts val="7140"/>
              </a:lnSpc>
            </a:pPr>
            <a:r>
              <a:rPr lang="en-US" b="true" sz="6000" spc="-60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Created cultural hits and defined mobile design.</a:t>
            </a:r>
          </a:p>
          <a:p>
            <a:pPr algn="l">
              <a:lnSpc>
                <a:spcPts val="7140"/>
              </a:lnSpc>
            </a:pPr>
            <a:r>
              <a:rPr lang="en-US" b="true" sz="6000" spc="-60">
                <a:solidFill>
                  <a:srgbClr val="3A86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Still alive but needs innovation to stay relevant.</a:t>
            </a:r>
          </a:p>
          <a:p>
            <a:pPr algn="l">
              <a:lnSpc>
                <a:spcPts val="71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08136" y="8131728"/>
            <a:ext cx="123957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6A99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742950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f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ren</a:t>
            </a:r>
            <a:r>
              <a:rPr lang="en-US" b="true" sz="9000" spc="-89" strike="noStrike" u="none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2186513"/>
            <a:ext cx="13569910" cy="252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Wikipedia – Endless Runner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The New Yorker – Don’t Stop: The Game That Conquered Smartphones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TIME &amp; Tech news on Temple Run and Subway Surfers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6A994E"/>
                </a:solidFill>
                <a:latin typeface="Nyutro Sans"/>
                <a:ea typeface="Nyutro Sans"/>
                <a:cs typeface="Nyutro Sans"/>
                <a:sym typeface="Nyutro Sans"/>
              </a:rPr>
              <a:t>DataIntelo – Mobile Runner Game Market Report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9004" y="6171427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6A99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6100" y="3361117"/>
            <a:ext cx="1467579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6282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Welcome to the World of Games!</dc:description>
  <dc:identifier>DAG4NoTwax8</dc:identifier>
  <dcterms:modified xsi:type="dcterms:W3CDTF">2011-08-01T06:04:30Z</dcterms:modified>
  <cp:revision>1</cp:revision>
  <dc:title>Presentation - Welcome to the World of Games!</dc:title>
</cp:coreProperties>
</file>